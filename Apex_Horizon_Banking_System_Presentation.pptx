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ENTERPRISE FINTECH ARCHITECTURE SPECIFICATION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APEX HORIZON BANKING SYSTEM</a:t>
            </a:r>
          </a:p>
          <a:p>
            <a:pPr>
              <a:spcAft>
                <a:spcPts val="2000"/>
              </a:spcAft>
              <a:defRPr sz="1800">
                <a:solidFill>
                  <a:srgbClr val="38BDF8"/>
                </a:solidFill>
                <a:latin typeface="Segoe UI"/>
              </a:defRPr>
            </a:pPr>
            <a:r>
              <a:t>Next-Generation Digital Banking &amp; Instant Payment Orchestration Platform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production-grade, highly resilient online banking platform featuring real-time UPI 2.0 integration, double-entry financial ledger accounting, pre-approved credit portfolios, and defense-in-depth zero-trust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60320" cy="100584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CORE FRAMEWORK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Spring Boot 3.3.2 &amp; Java 17 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120640"/>
            <a:ext cx="2560320" cy="100584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SECURITY COMPLIANCE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NPCI UPI 2.0 &amp; RBI KYC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120640"/>
            <a:ext cx="2560320" cy="100584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DATABASE ENGINE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H2 Cluster Engine with Auto-Server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120640"/>
            <a:ext cx="2560320" cy="100584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GOVERNANCE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Full RBAC (Role-Based Access Control)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STRATEGIC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Industry Landscape &amp; Engineering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APEX HORIZON BANKING SYSTEM  |  ENTERPRISE ARCHITECTURE  |  SLIDE 2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Legacy Banking Bottlenecks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Pain Points in Traditional Core Banking Systems (CBS)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Monolithic Latency &amp; Downtime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Legacy batch-processed transactions prevent real-time ledger updates and cause high settlement failure rates.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Concurrency Lock Contention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Poor ACID isolation models cause dirty reads, deadlocks, and double-spending vulnerabilities during high traffic peaks.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Fragmented Payment Gateways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Disconnected silos between NEFT/RTGS, UPI VPA rails, and card processing create reconciliation discrepancies.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Account Takeover Vulnerabilities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Single-factor credentials and unmonitored failed logins expose accounts to credential stuffing and brute-force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Apex Horizon Architectural Solutions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Target Enterprise Architecture &amp; Key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Sub-Second Dual-Ledger Settlement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Atomic double-entry transaction posting guaranteeing that every debit has a balanced credit without ledger drift.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Idempotency-First Transaction Engine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Cryptographic request hashing (SHA-256) guarantees that network retries never trigger duplicate debits.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Unified FinTech Rails (UPI 2.0 + VPA)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Native virtual payment address generation (@obsbank), dynamic QR code generation, and simulated PSP settlement.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Defense-in-Depth Zero-Trust Security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BCrypt salted hashing, 5-strike adaptive account lockout, OTP-bound credentials, and strict session/JWT dual auth.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Enterprise Stack &amp; Layered Architectural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APEX HORIZON BANKING SYSTEM  |  ENTERPRISE ARCHITECTURE  |  SLIDE 3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Presentation Layer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UI &amp; API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Thymeleaf 3.1 &amp; HTML5/CSS3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Modern glassmorphism fintech design system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Bootstrap 5.3 &amp; FontAwesome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Responsive cross-device interface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REST API &amp; JWT Bearer Endpoints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Stateless client &amp; microservice integration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QR Scanning &amp; Camera APIs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Client-side html5-qrcode video streaming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Application &amp; Security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Business Logic &amp; Policies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Spring Boot 3.3.2 / Java 17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High-throughput modular microservices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Spring Security 6.3 &amp; BCrypt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Session &amp; stateless JWT dual authentication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Idempotency Orchestrator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24-hr TTL SHA-256 request de-duplication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• Transaction Interceptor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ACID transactional boundaries (@Transactional)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554480"/>
            <a:ext cx="347472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Domain &amp; Data Tier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Persistence &amp;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Spring Data JPA / Hibernate 6.5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Entity object-relational mapping &amp; schema DDL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H2 Persistent Database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File-backed engine with AUTO_SERVER cluster mode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HikariCP Connection Pool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Sub-millisecond connection checkout latency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Automated Schema Migration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Backward-compatible enum and table evolution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PRODUCT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Digital Product Modules &amp; Payment 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APEX HORIZON BANKING SYSTEM  |  ENTERPRISE ARCHITECTURE  |  SLIDE 4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UPI 2.0 &amp; Dynamic QR Rails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Instant Peer-to-Peer &amp; Merchant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Virtual Payment Address (VPA) resolution: user@obsbank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Real-time QR code generation with standard UPI intent payload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Live in-browser camera scanning via HTML5 video stream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Instant verification modal with beneficiary security badge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Fund Transfers &amp; Settlement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Multi-Rail Interbank Clearing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Self-account transfers across linked user portfolios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Intra-bank direct ledger transfers with zero clearance delay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Inter-bank NEFT/RTGS with official IFSC code routing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Daily &amp; per-transaction user limit governance enforcement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Credit &amp; Wealth Engine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Automated Underwriting &amp; Deposits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Pre-Approved Instant Personal Loan underwriting (up to ₹5,00,000)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Dynamic EMI calculation slider (12-60 months) with 10.5% APR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High-yield Fixed Deposits (FD) with 7.5% compound maturity yield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Automatic instant disbursement to primary active savings 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Cards &amp; Utility Payments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Virtual Payment Instruments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RuPay Platinum Virtual Debit Card with dynamic CVV reveal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One-click card freeze/unfreeze and e-commerce limit toggles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Utility bill clearing: Mobile recharge, Electricity, DTH &amp; Broadband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▸ Automated PDF &amp; printable Official Bank Statement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Atomic Transaction Processing &amp; Idempotency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APEX HORIZON BANKING SYSTEM  |  ENTERPRISE ARCHITECTURE  |  SLIDE 5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16459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Step 1: Ingestion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Client submits transfer request with unique idempotency token and payload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16459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2: Verification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Cache lookup in idempotency_records; duplicate requests return cached result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16459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3: Atomic Execution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@Transactional boundary locks accounts, checks balance &amp; limits, executes dual debits/credits.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560320" cy="16459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A855F7"/>
                </a:solidFill>
                <a:latin typeface="Segoe UI"/>
              </a:defRPr>
            </a:pPr>
            <a:r>
              <a:t>Step 4: Audit &amp; Dispatch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Generates immutable audit log, triggers SMS/email security notification, returns receipt.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212080" cy="26517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Idempotency Architecture (Preventing Double Debits)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Guaranteed Exactly-Once Execution 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Cryptographic Fingerprinting: Incoming requests calculate SHA-256 hash across endpoint, sender, recipient, and amount.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State Locking: Transaction moves from IN_PROGRESS to SUCCESS or FAILED in atomic isolation.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• Replay Protection: Network timeouts or impatient double-clicks safely resolve to the identical recorded transaction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212080" cy="26517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Double-Entry Ledger Integrity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Financial Accuracy &amp; Zero Ledger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✔ Strict Conservation Rule: For every financial mutation, Sum(Debits) == Sum(Credits). Money cannot be created or lost.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✔ Balance Boundary Constraints: Account balance check enforced at database column scale (precision 15, scale 2) preventing negative drift.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✔ Automated Reversal Workflow: Administrative rollback capability restores exact debited balances with auditable reverse ledger postings.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SECURITY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Zero-Trust &amp; Multi-Layer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APEX HORIZON BANKING SYSTEM  |  ENTERPRISE ARCHITECTURE  |  SLIDE 6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Authentication &amp; Access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RBAC &amp; Dual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Role-Based Access Control: Rigid segregation between ROLE_ADMIN and ROLE_CUSTOMER permissions.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Stateful &amp; Stateless Dual-Mode: Session cookies for browser UI + HMAC-SHA512 JWT tokens for mobile APIs.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Smart Identifier Resolution: Multi-attribute lookup supporting Username, Full Name, Email, and 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Brute-Force &amp; Attack Prevention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Account Takeover 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5-Attempt Threshold Lockout: Automatically locks user credentials for 15 minutes upon 5 failed attempts.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Whitespace &amp; Typo Tolerance: Resilient password verifier preventing accidental lockouts from whitespace.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Audit Trail Surveillance: IP address, browser user-agent, and device telemetry recorded on every attempt.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Cryptographic Safeguards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Data Protection at Rest &amp; Transit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BCrypt 10-Round Adaptive Salt: One-way cryptographic hash making credential exposure resistant to rainbow tables.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OTP-Bound Credential Reset: Time-limited 6-digit verification code with 15-minute expiration window.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Transaction Security MPIN: Secondary authorization required before releasing high-value fund transfers.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Web Application Firewalling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Layer-7 Threat 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Anti-CSRF Tokens: Cross-Site Request Forgery mitigation on all state-changing endpoints.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Clickjacking Prevention: Strict SAMEORIGIN X-Frame-Options headers applied across all views.</a:t>
            </a:r>
          </a:p>
          <a:p>
            <a:pPr>
              <a:spcAft>
                <a:spcPts val="200"/>
              </a:spcAft>
              <a:defRPr sz="919">
                <a:solidFill>
                  <a:srgbClr val="94A3B8"/>
                </a:solidFill>
                <a:latin typeface="Segoe UI"/>
              </a:defRPr>
            </a:pPr>
            <a:r>
              <a:t>• SQL Injection Immunity: Parameterized JPA queries and strict typing preventing SQL injection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OPERATIONS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Administrative Command, Surveillance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APEX HORIZON BANKING SYSTEM  |  ENTERPRISE ARCHITECTURE  |  SLIDE 7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11887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TOTAL SYSTEM ACCOUNTS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Live Active CIFs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KYC 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11887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DISPUTE MANAGEMENT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Instant Reversals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Zero-Latency Settlement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11887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SECURITY SENTINEL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Failed Logins &amp; Locks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Proactive Fraud Alerting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560320" cy="118872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AUDIT TELEMETRY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Immutable Event Logs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Regulatory Traceability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1089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Customer Governance &amp; Security Surveillance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Granular Account Control &amp;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Real-time Security Telemetry: Live tracking of 2FA enablement, failed login counters, and automated lockout statuses across all customer portfolios.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Account Status State Machine: Administrators can toggle accounts between ACTIVE, FROZEN (user-requested lock), and SUSPENDED (risk hold).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Strict Role Isolation: Sole administrative privileges granted exclusively to authorized personnel (e.g., Shubham - ROLE_ADMIN) with zero privilege creep.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Real-Time Notification Dispatch: Automated SMS/Email security dispatch sent to customers on login, password update, or status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212080" cy="310896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Dispute Resolution &amp; Transaction Reversals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Fraud Remediation &amp; Immutable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One-Click Transaction Reversal: Authorized admins can reverse erroneous or disputed transactions, restoring source balances and debiting destinations instantly.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Reversed Status Ledger Flagging: Transactions update to status REVERSED, preventing recursive double-reversals and preserving historical ledger integrity.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Forensic Audit Streaming: Every system action captures username, action type, IP address, device footprint, timestamp, and success/failure status.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▸ Compliance Readiness: Audit logs formatted for rapid ingestion into SIEM tools (Splunk, Elastic) for regulatory compliance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FUTURE VISION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Regulatory Compliance, Scalability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APEX HORIZON BANKING SYSTEM  |  ENTERPRISE ARCHITECTURE  |  SLIDE 8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Regulatory Compliance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Banking Standards &amp;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RBI Cyber Security Framework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Complies with adaptive access controls, audit trail requirements, and data integrity guidelines.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NPCI UPI 2.0 Compliance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Adheres to virtual payment address formatting, dynamic QR payloads, and transaction reference protocols.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Indian Financial KYC Standards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Mandatory unique PAN card and 12-digit Aadhaar card validation during customer onboarding.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Data Protection &amp; Privacy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Full isolation of sensitive credentials with one-way BCrypt adaptive hashing.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Scalability Roadmap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Cloud-Native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Microservices Decomposition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Transition from modular monolith to containerized Docker/Kubernetes microservices via Spring Cloud Gateway.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Event-Driven Architecture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Integrate Apache Kafka for high-throughput asynchronous event streaming and notification dispatch.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Distributed Production DB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Migrate to PostgreSQL / AWS Aurora with read-replicas and Redis distributed caching.</a:t>
            </a:r>
          </a:p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• Biometric &amp; FIDO2 Authentication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Integrate WebAuthn for hardware security keys and fingerprint mobile login.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554480"/>
            <a:ext cx="3474720" cy="4572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Executive Conclusion</a:t>
            </a:r>
          </a:p>
          <a:p>
            <a:pPr>
              <a:defRPr sz="1000">
                <a:solidFill>
                  <a:srgbClr val="38BDF8"/>
                </a:solidFill>
                <a:latin typeface="Segoe UI"/>
              </a:defRPr>
            </a:pPr>
            <a:r>
              <a:t>Core Value Proposition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Production-Ready Integrity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A complete, end-to-end banking ecosystem combining real-time payments, loan underwriting, and wealth deposits.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Bank-Grade Security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Zero-trust principles, 5-strike account locks, and idempotent execution eliminate common financial security risks.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Modern FinTech UX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Harmonized dark-glass aesthetic delivering frictionless user interactions across desktop and mobile devices.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Proven Reliability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Architected with test-driven discipline, zero database locks, and verified 100% pass rates across all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